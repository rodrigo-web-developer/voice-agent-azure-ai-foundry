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CD7D98-27EB-268D-11F1-5511BA7DB6AE}" v="207" dt="2026-04-22T21:09:35.507"/>
    <p1510:client id="{79B71E92-CCCE-E73E-C0CC-1EE219BF84D4}" v="17" dt="2026-04-23T13:15:05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E9DFA2-C87B-5920-FCAB-62A154E0A6A6}"/>
              </a:ext>
            </a:extLst>
          </p:cNvPr>
          <p:cNvSpPr txBox="1"/>
          <p:nvPr/>
        </p:nvSpPr>
        <p:spPr>
          <a:xfrm>
            <a:off x="2197101" y="735283"/>
            <a:ext cx="4978399" cy="316504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Criando um agente de voz gratuito com Azure AI Foundry (Microsoft)</a:t>
            </a:r>
          </a:p>
        </p:txBody>
      </p:sp>
      <p:pic>
        <p:nvPicPr>
          <p:cNvPr id="8" name="Graphic 7" descr="Call center">
            <a:extLst>
              <a:ext uri="{FF2B5EF4-FFF2-40B4-BE49-F238E27FC236}">
                <a16:creationId xmlns:a16="http://schemas.microsoft.com/office/drawing/2014/main" id="{57B3B842-244E-83AF-F9A3-E5829C2511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10" name="Graphic 9" descr="Call center">
            <a:extLst>
              <a:ext uri="{FF2B5EF4-FFF2-40B4-BE49-F238E27FC236}">
                <a16:creationId xmlns:a16="http://schemas.microsoft.com/office/drawing/2014/main" id="{FA9DA752-8847-449D-A1D2-02D2FD5E7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F2976FE-DEA3-B683-0AD9-627DB3CEC69E}"/>
              </a:ext>
            </a:extLst>
          </p:cNvPr>
          <p:cNvSpPr txBox="1"/>
          <p:nvPr/>
        </p:nvSpPr>
        <p:spPr>
          <a:xfrm>
            <a:off x="1709351" y="854675"/>
            <a:ext cx="8783594" cy="3408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D27F26F-B6AC-843E-19E5-A3CAD13995E4}"/>
              </a:ext>
            </a:extLst>
          </p:cNvPr>
          <p:cNvSpPr txBox="1"/>
          <p:nvPr/>
        </p:nvSpPr>
        <p:spPr>
          <a:xfrm>
            <a:off x="0" y="6133699"/>
            <a:ext cx="5076567" cy="723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pt-BR">
                <a:ea typeface="Calibri"/>
                <a:cs typeface="Calibri"/>
              </a:rPr>
              <a:t>Rodrigo Gonçalves Rodrigues</a:t>
            </a:r>
          </a:p>
          <a:p>
            <a:pPr>
              <a:spcAft>
                <a:spcPts val="600"/>
              </a:spcAft>
            </a:pPr>
            <a:r>
              <a:rPr lang="pt-BR" dirty="0">
                <a:ea typeface="Calibri"/>
                <a:cs typeface="Calibri"/>
              </a:rPr>
              <a:t>rodrigorodrigues</a:t>
            </a:r>
            <a:r>
              <a:rPr lang="pt-BR">
                <a:ea typeface="Calibri"/>
                <a:cs typeface="Calibri"/>
              </a:rPr>
              <a:t>@unimar.br</a:t>
            </a:r>
          </a:p>
        </p:txBody>
      </p:sp>
    </p:spTree>
    <p:extLst>
      <p:ext uri="{BB962C8B-B14F-4D97-AF65-F5344CB8AC3E}">
        <p14:creationId xmlns:p14="http://schemas.microsoft.com/office/powerpoint/2010/main" val="3189019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Como criar um agente de voz no Azure / Microsoft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E7887"/>
                </a:solidFill>
                <a:latin typeface="Aptos"/>
              </a:defRPr>
            </a:pPr>
            <a:r>
              <a:t>Da criação da conta até a execução local do código com uv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3990360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7050713" cy="243970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lnSpc>
                <a:spcPct val="105000"/>
              </a:lnSpc>
              <a:defRPr sz="2600" b="1">
                <a:solidFill>
                  <a:srgbClr val="0078D4"/>
                </a:solidFill>
                <a:latin typeface="Aptos"/>
              </a:defRPr>
            </a:pPr>
            <a:r>
              <a:rPr dirty="0" err="1"/>
              <a:t>Fluxo</a:t>
            </a:r>
            <a:r>
              <a:rPr dirty="0"/>
              <a:t> </a:t>
            </a:r>
            <a:r>
              <a:rPr lang="pt-BR" dirty="0"/>
              <a:t>do curso</a:t>
            </a:r>
            <a:r>
              <a:rPr dirty="0"/>
              <a:t>:</a:t>
            </a:r>
          </a:p>
          <a:p>
            <a:pPr>
              <a:lnSpc>
                <a:spcPct val="105000"/>
              </a:lnSpc>
              <a:defRPr sz="2400" b="0">
                <a:solidFill>
                  <a:srgbClr val="2B3544"/>
                </a:solidFill>
                <a:latin typeface="Aptos"/>
              </a:defRPr>
            </a:pPr>
            <a:r>
              <a:rPr dirty="0"/>
              <a:t>1. </a:t>
            </a:r>
            <a:r>
              <a:rPr dirty="0" err="1"/>
              <a:t>Criar</a:t>
            </a:r>
            <a:r>
              <a:rPr dirty="0"/>
              <a:t> </a:t>
            </a:r>
            <a:r>
              <a:rPr dirty="0" err="1"/>
              <a:t>conta</a:t>
            </a:r>
            <a:r>
              <a:rPr dirty="0"/>
              <a:t> Azure </a:t>
            </a:r>
            <a:r>
              <a:rPr dirty="0" err="1"/>
              <a:t>gratuita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de </a:t>
            </a:r>
            <a:r>
              <a:rPr dirty="0" err="1"/>
              <a:t>estudante</a:t>
            </a:r>
          </a:p>
          <a:p>
            <a:pPr>
              <a:lnSpc>
                <a:spcPct val="105000"/>
              </a:lnSpc>
              <a:defRPr sz="2400" b="0">
                <a:solidFill>
                  <a:srgbClr val="2B3544"/>
                </a:solidFill>
                <a:latin typeface="Aptos"/>
              </a:defRPr>
            </a:pPr>
            <a:r>
              <a:rPr dirty="0"/>
              <a:t>2. </a:t>
            </a:r>
            <a:r>
              <a:rPr dirty="0" err="1"/>
              <a:t>Criar</a:t>
            </a:r>
            <a:r>
              <a:rPr dirty="0"/>
              <a:t> </a:t>
            </a:r>
            <a:r>
              <a:rPr dirty="0" err="1"/>
              <a:t>projeto</a:t>
            </a:r>
            <a:r>
              <a:rPr dirty="0"/>
              <a:t> no Microsoft Foundry</a:t>
            </a:r>
          </a:p>
          <a:p>
            <a:pPr>
              <a:lnSpc>
                <a:spcPct val="105000"/>
              </a:lnSpc>
              <a:defRPr sz="2400" b="0">
                <a:solidFill>
                  <a:srgbClr val="2B3544"/>
                </a:solidFill>
                <a:latin typeface="Aptos"/>
              </a:defRPr>
            </a:pPr>
            <a:r>
              <a:rPr dirty="0"/>
              <a:t>3. </a:t>
            </a:r>
            <a:r>
              <a:rPr dirty="0" err="1"/>
              <a:t>Implantar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e </a:t>
            </a:r>
            <a:r>
              <a:rPr dirty="0" err="1"/>
              <a:t>criar</a:t>
            </a:r>
            <a:r>
              <a:rPr dirty="0"/>
              <a:t> </a:t>
            </a:r>
            <a:r>
              <a:rPr dirty="0" err="1"/>
              <a:t>agente</a:t>
            </a:r>
            <a:r>
              <a:rPr dirty="0"/>
              <a:t> de </a:t>
            </a:r>
            <a:r>
              <a:rPr dirty="0" err="1"/>
              <a:t>voz</a:t>
            </a:r>
          </a:p>
          <a:p>
            <a:pPr>
              <a:lnSpc>
                <a:spcPct val="105000"/>
              </a:lnSpc>
              <a:defRPr sz="2400" b="0">
                <a:solidFill>
                  <a:srgbClr val="2B3544"/>
                </a:solidFill>
                <a:latin typeface="Aptos"/>
              </a:defRPr>
            </a:pPr>
            <a:r>
              <a:rPr dirty="0"/>
              <a:t>4. </a:t>
            </a:r>
            <a:r>
              <a:rPr dirty="0" err="1"/>
              <a:t>Configurar</a:t>
            </a:r>
            <a:r>
              <a:rPr dirty="0"/>
              <a:t> </a:t>
            </a:r>
            <a:r>
              <a:rPr dirty="0" err="1"/>
              <a:t>instruções</a:t>
            </a:r>
            <a:r>
              <a:rPr dirty="0"/>
              <a:t>, </a:t>
            </a:r>
            <a:r>
              <a:rPr dirty="0" err="1"/>
              <a:t>conhecimento</a:t>
            </a:r>
            <a:r>
              <a:rPr dirty="0"/>
              <a:t> e guardrails</a:t>
            </a:r>
          </a:p>
          <a:p>
            <a:pPr>
              <a:lnSpc>
                <a:spcPct val="105000"/>
              </a:lnSpc>
              <a:defRPr sz="2400" b="0">
                <a:solidFill>
                  <a:srgbClr val="2B3544"/>
                </a:solidFill>
                <a:latin typeface="Aptos"/>
              </a:defRPr>
            </a:pPr>
            <a:r>
              <a:rPr dirty="0"/>
              <a:t>5. </a:t>
            </a:r>
            <a:r>
              <a:rPr dirty="0" err="1"/>
              <a:t>Copiar</a:t>
            </a:r>
            <a:r>
              <a:rPr dirty="0"/>
              <a:t> o </a:t>
            </a:r>
            <a:r>
              <a:rPr dirty="0" err="1"/>
              <a:t>código</a:t>
            </a:r>
            <a:r>
              <a:rPr dirty="0"/>
              <a:t> e </a:t>
            </a:r>
            <a:r>
              <a:rPr dirty="0" err="1"/>
              <a:t>executar</a:t>
            </a:r>
            <a:r>
              <a:rPr dirty="0"/>
              <a:t> </a:t>
            </a:r>
            <a:r>
              <a:rPr dirty="0" err="1"/>
              <a:t>localmente</a:t>
            </a:r>
            <a:r>
              <a:rPr dirty="0"/>
              <a:t> com </a:t>
            </a:r>
            <a:r>
              <a:rPr dirty="0" err="1"/>
              <a:t>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Objetivos da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Entender o caminho completo: conta Azure → Foundry → agente → execução local.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Aprender a ativar um plano gratuito ou de estudante.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Criar um projeto e preparar o ambiente no Microsoft Foundry.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Configurar o agente de voz com modelo, instruções, conhecimento e guardrails.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Executar o código gerado pelo Foundry em uma máquina local com uv.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Pré-requisitos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2522807"/>
          </a:xfrm>
          <a:prstGeom prst="rect">
            <a:avLst/>
          </a:prstGeom>
          <a:noFill/>
        </p:spPr>
        <p:txBody>
          <a:bodyPr wrap="square" lIns="127000" tIns="50800" rIns="127000" bIns="4572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rPr dirty="0"/>
              <a:t>Uma </a:t>
            </a:r>
            <a:r>
              <a:rPr dirty="0" err="1"/>
              <a:t>conta</a:t>
            </a:r>
            <a:r>
              <a:rPr dirty="0"/>
              <a:t> Microsoft.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portal Azure e </a:t>
            </a:r>
            <a:r>
              <a:rPr dirty="0" err="1"/>
              <a:t>ao</a:t>
            </a:r>
            <a:r>
              <a:rPr dirty="0"/>
              <a:t> portal do Microsoft Foundry.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rPr dirty="0" err="1"/>
              <a:t>Conexão</a:t>
            </a:r>
            <a:r>
              <a:rPr dirty="0"/>
              <a:t> </a:t>
            </a:r>
            <a:r>
              <a:rPr dirty="0" err="1"/>
              <a:t>com a</a:t>
            </a:r>
            <a:r>
              <a:rPr dirty="0"/>
              <a:t> internet e </a:t>
            </a:r>
            <a:r>
              <a:rPr dirty="0" err="1"/>
              <a:t>permissões</a:t>
            </a:r>
            <a:r>
              <a:rPr dirty="0"/>
              <a:t> para </a:t>
            </a:r>
            <a:r>
              <a:rPr dirty="0" err="1"/>
              <a:t>instalar</a:t>
            </a:r>
            <a:r>
              <a:rPr dirty="0"/>
              <a:t> ferramentas </a:t>
            </a:r>
            <a:r>
              <a:rPr dirty="0" err="1"/>
              <a:t>locais</a:t>
            </a:r>
            <a:r>
              <a:rPr dirty="0"/>
              <a:t>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rPr dirty="0"/>
              <a:t>Python 3.11 </a:t>
            </a:r>
            <a:r>
              <a:rPr dirty="0" err="1"/>
              <a:t>recomendado</a:t>
            </a:r>
            <a:r>
              <a:rPr dirty="0"/>
              <a:t> para </a:t>
            </a:r>
            <a:r>
              <a:rPr dirty="0" err="1"/>
              <a:t>a</a:t>
            </a:r>
            <a:r>
              <a:rPr dirty="0"/>
              <a:t> </a:t>
            </a:r>
            <a:r>
              <a:rPr dirty="0" err="1"/>
              <a:t>execução</a:t>
            </a:r>
            <a:r>
              <a:rPr dirty="0"/>
              <a:t> local.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rPr dirty="0"/>
              <a:t>Azure CLI </a:t>
            </a:r>
            <a:r>
              <a:rPr dirty="0" err="1"/>
              <a:t>instalada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Escolhendo o tipo de conta Azure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7540"/>
            <a:ext cx="5394960" cy="48789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4447" y="1416186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  <a:latin typeface="Aptos"/>
              </a:defRPr>
            </a:pPr>
            <a:r>
              <a:t>Conta gratuita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447" y="1873386"/>
            <a:ext cx="50292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Indicada para quem não é estudante.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Permite começar rapidamente sem investimento inicial elevado.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Normalmente oferece créditos promocionais e serviços gratuitos por tempo limitado.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Boa opção para testes, estudos e protótipos.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47540"/>
            <a:ext cx="5349240" cy="48789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6568" y="1416186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  <a:latin typeface="Aptos"/>
              </a:defRPr>
            </a:pPr>
            <a:r>
              <a:t>Azure for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6568" y="1873386"/>
            <a:ext cx="49834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Indicada para quem possui vínculo estudantil.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Costuma exigir e-mail institucional para validação.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Não exige cartão de crédito em muitos cenários.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É a melhor opção para estudantes que querem aprender e praticar.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Criando a conta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Acesse o portal oficial do Azure.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Escolha a opção de plano gratuito ou plano de estudante.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Entre com sua conta Microsoft ou crie uma nova conta.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Preencha as informações solicitadas e conclua a validação.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Ao finalizar, você terá uma assinatura ativa para começar a usar os serviços.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Observações importantes sobre a assinatura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Confirme em qual diretório e assinatura você está logado.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Se sua conta participou de uma organização, verifique se você está no diretório correto.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Sempre valide se a assinatura está ativa antes de criar recursos.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Para fins didáticos, prefira organizar tudo em um único Resource Group.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Entrando no Microsoft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Abra o portal do Microsoft Foundry no navegador.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Faça login com a mesma conta usada no Azure.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Confirme se a assinatura correta está selecionada.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Localize a área de projetos, modelos, agentes e playgrounds.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O Foundry será o ambiente principal para criar e testar o agente.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Criando o projeto no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Clique em criar um novo projeto.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Defina um nome claro para o projeto.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Escolha ou crie um Resource Group.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Escolha a região onde os recursos serão hospedados.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Conclua a criação e aguarde a preparação do ambiente.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Boas práticas ao criar 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Use nomes simples e padronizados.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Mantenha o projeto em uma região compatível com os recursos necessários.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Centralize os recursos de estudo em um grupo dedicado.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Isso facilita limpeza, rastreio de custo e organização do laboratório.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Implantando um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No projeto, acesse a área de modelos.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Selecione um modelo compatível com o cenário desejado.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Para demonstração, prefira um modelo leve e mais econômico.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Clique em Deploy e aguarde a implantação.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Esse deployment será usado na criação do agente.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Criando o agente de voz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Acesse a área de Agents ou Build dentro do projeto.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Clique em Create agent.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Defina o nome do agente.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Selecione o modelo implantado anteriormente.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Salve a configuração inicial para seguir com os ajustes.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O que configurar no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Modelo: qual LLM será utilizado.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Instruções: o que o chat é e como deve responder.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Conhecimento: o que o chat sabe e quais fontes pode consultar.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Guardrails: o que o agente não pode fazer e quais proteções devem ser aplicadas.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Instruções do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As instruções definem a persona e o comportamento do agente.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Descreva o papel do agente, o tom de voz e o objetivo.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Defina quando ele deve pedir esclarecimentos.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Defina como agir quando não souber uma resposta.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Instrua o agente a usar a base de conhecimento quando necessário.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Exemplo de instruções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Você é um assistente de atendimento por voz da empresa X.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Responda de forma objetiva, educada e natural.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Use a base de conhecimento para perguntas sobre produtos, políticas e suporte.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Se não encontrar a informação, deixe isso claro e indique o próximo passo.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Conhecimento do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Conhecimento é a base factual que apoia as respostas.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Você pode anexar arquivos, documentos ou outras fontes.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Ele ajuda a reduzir respostas inventadas e melhora a consistência.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Explique ao aluno a diferença entre instrução e conhecimento.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Instrução é comportamento; conhecimento é informação.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Guardrails do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Guardrails são regras de proteção e segurança.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Eles ajudam a bloquear comportamentos inadequados ou perigosos.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Podem atuar na entrada do usuário e também na saída do modelo.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Exemplos: bloquear conteúdo nocivo, prompt injection e vazamento indevido de informação.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556230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rPr dirty="0" err="1"/>
              <a:t>Exemplo</a:t>
            </a:r>
            <a:r>
              <a:rPr dirty="0"/>
              <a:t> de </a:t>
            </a:r>
            <a:r>
              <a:rPr dirty="0" err="1"/>
              <a:t>guardrails</a:t>
            </a:r>
            <a:endParaRPr lang="pt-BR" dirty="0" err="1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Ativar proteções contra ataques de prompt.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Ativar proteções para entradas maliciosas do usuário.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Restringir respostas fora do escopo do agente.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Orientar o agente a responder somente dentro do contexto definido.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Testando o agente no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Use o playground para conversar com o agente.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Verifique se ele responde no tom esperado.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Teste perguntas cobertas pela base de conhecimento.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Teste perguntas fora do escopo para validar os guardrails.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Ajuste e salve novas versões sempre que necessário.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Obtendo o código gerado pelo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Após configurar o agente, abra a aba de código.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Copie o snippet gerado automaticamente pelo próprio portal.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Esse código será usado como base do projeto local.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No ambiente local, o objetivo será apenas preparar dependências e executar.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Preparando a máquina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Crie uma nova pasta para o projeto.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Abra o terminal nessa pasta.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Instale o uv.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Crie o ambiente virtual.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Sincronize as dependências do projeto.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Instalando o uv no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B3544"/>
                </a:solidFill>
                <a:latin typeface="Aptos"/>
              </a:defRPr>
            </a:pPr>
            <a:r>
              <a:t>No PowerShell, execute o comando abaixo: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469880" cy="3429000"/>
          </a:xfrm>
          <a:prstGeom prst="roundRect">
            <a:avLst/>
          </a:prstGeom>
          <a:solidFill>
            <a:srgbClr val="F5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29718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powershell -ExecutionPolicy ByPass -c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"irm https://astral.sh/uv/install.ps1 | iex"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Instalando o uv no macOS / Linux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B3544"/>
                </a:solidFill>
                <a:latin typeface="Aptos"/>
              </a:defRPr>
            </a:pPr>
            <a:r>
              <a:t>No terminal, execute o comando abaixo: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469880" cy="3429000"/>
          </a:xfrm>
          <a:prstGeom prst="roundRect">
            <a:avLst/>
          </a:prstGeom>
          <a:solidFill>
            <a:srgbClr val="F5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29718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curl -LsSf https://astral.sh/uv/install.sh | 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Criando a pasta do projeto e inicializando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B3544"/>
                </a:solidFill>
                <a:latin typeface="Aptos"/>
              </a:defRPr>
            </a:pPr>
            <a:r>
              <a:t>Depois de instalar o uv, crie o projeto local: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469880" cy="3429000"/>
          </a:xfrm>
          <a:prstGeom prst="roundRect">
            <a:avLst/>
          </a:prstGeom>
          <a:solidFill>
            <a:srgbClr val="F5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29718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mkdir voice-agent-local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cd voice-agent-local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uv init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Criando o ambiente virtual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B3544"/>
                </a:solidFill>
                <a:latin typeface="Aptos"/>
              </a:defRPr>
            </a:pPr>
            <a:r>
              <a:t>Agora crie o ambiente virtual do projeto: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469880" cy="3429000"/>
          </a:xfrm>
          <a:prstGeom prst="roundRect">
            <a:avLst/>
          </a:prstGeom>
          <a:solidFill>
            <a:srgbClr val="F5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29718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uv venv --python 3.11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Ativando o ambiente virtual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7373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  <a:latin typeface="Aptos"/>
              </a:defRPr>
            </a:pPr>
            <a:r>
              <a:t>Windows PowerShell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50292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.venv\Scripts\activate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3492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  <a:latin typeface="Aptos"/>
              </a:defRPr>
            </a:pPr>
            <a:r>
              <a:t>macOS / Linux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49834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source .venv/bin/activate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Adicionando dependências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B3544"/>
                </a:solidFill>
                <a:latin typeface="Aptos"/>
              </a:defRPr>
            </a:pPr>
            <a:r>
              <a:t>Com o ambiente pronto, adicione as bibliotecas do projeto: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469880" cy="3429000"/>
          </a:xfrm>
          <a:prstGeom prst="roundRect">
            <a:avLst/>
          </a:prstGeom>
          <a:solidFill>
            <a:srgbClr val="F5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29718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uv add "azure-ai-projects&gt;=2.0.0b3"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uv add openai "azure-ai-voicelive&gt;=1.2.0b4"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uv add pyaudio python-dotenv azure-identity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Sincronizando o ambiente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B3544"/>
                </a:solidFill>
                <a:latin typeface="Aptos"/>
              </a:defRPr>
            </a:pPr>
            <a:r>
              <a:t>Depois de adicionar as dependências, sincronize o projeto: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469880" cy="3429000"/>
          </a:xfrm>
          <a:prstGeom prst="roundRect">
            <a:avLst/>
          </a:prstGeom>
          <a:solidFill>
            <a:srgbClr val="F5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29718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uv lock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uv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Arquivo .env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Crie um arquivo .env na raiz do projeto.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Adicione as variáveis exigidas pelo código gerado no Foundry.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Exemplos comuns: endpoint do projeto, nome do agente, versão do agente e deployment do modelo.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Esse arquivo concentra a configuração do ambiente local.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t>Azure • Microsoft Foundry • Agente de Voz • Slide 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Login no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B3544"/>
                </a:solidFill>
                <a:latin typeface="Aptos"/>
              </a:defRPr>
            </a:pPr>
            <a:r>
              <a:t>Se o código usar autenticação do Azure, faça login antes de executar: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469880" cy="3429000"/>
          </a:xfrm>
          <a:prstGeom prst="roundRect">
            <a:avLst/>
          </a:prstGeom>
          <a:solidFill>
            <a:srgbClr val="F5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29718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az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5410" y="6419088"/>
            <a:ext cx="3637470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rPr dirty="0"/>
              <a:t>Azure • Microsoft Foundry • </a:t>
            </a:r>
            <a:r>
              <a:rPr err="1"/>
              <a:t>Agente</a:t>
            </a:r>
            <a:r>
              <a:t> de Voz • Slide </a:t>
            </a:r>
            <a:r>
              <a:rPr lang="pt-BR"/>
              <a:t>29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Executando 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B3544"/>
                </a:solidFill>
                <a:latin typeface="Aptos"/>
              </a:defRPr>
            </a:pPr>
            <a:r>
              <a:t>Salve o código gerado pelo Foundry em um arquivo, por exemplo main.py: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469880" cy="3429000"/>
          </a:xfrm>
          <a:prstGeom prst="roundRect">
            <a:avLst/>
          </a:prstGeom>
          <a:solidFill>
            <a:srgbClr val="F5F7FA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29718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2400">
                <a:solidFill>
                  <a:srgbClr val="2B3544"/>
                </a:solidFill>
                <a:latin typeface="Cascadia Mono"/>
              </a:defRPr>
            </a:pPr>
            <a:r>
              <a:t>uv run python main.py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5410" y="6419088"/>
            <a:ext cx="3637470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rPr dirty="0"/>
              <a:t>Azure • Microsoft Foundry • </a:t>
            </a:r>
            <a:r>
              <a:rPr err="1"/>
              <a:t>Agente</a:t>
            </a:r>
            <a:r>
              <a:t> de Voz • Slide </a:t>
            </a:r>
            <a:r>
              <a:rPr lang="pt-BR"/>
              <a:t>30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O que validar no teste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Se o agente está usando o modelo correto.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Se as instruções estão sendo respeitadas.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Se a base de conhecimento está sendo consultada.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Se os guardrails estão funcionando como esperado.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Se a execução local está conseguindo autenticar e responder.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75410" y="6419088"/>
            <a:ext cx="3637470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rPr dirty="0"/>
              <a:t>Azure • Microsoft Foundry • </a:t>
            </a:r>
            <a:r>
              <a:rPr err="1"/>
              <a:t>Agente</a:t>
            </a:r>
            <a:r>
              <a:t> de Voz • Slide </a:t>
            </a:r>
            <a:r>
              <a:rPr lang="pt-BR"/>
              <a:t>31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Resumo do fluxo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127000" tIns="50800" rIns="12700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1. Criar conta Azure.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2. Entrar no Microsoft Foundry.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3. Criar projeto e resource group.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4. Implantar modelo.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5. Criar agente de voz.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6. Configurar instruções, conhecimento e guardrails.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7. Copiar o código gerado.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2B3544"/>
                </a:solidFill>
                <a:latin typeface="Aptos"/>
              </a:defRPr>
            </a:pPr>
            <a:r>
              <a:t>8. Executar localmente com uv.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75410" y="6419088"/>
            <a:ext cx="3637470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rPr dirty="0"/>
              <a:t>Azure • Microsoft Foundry • </a:t>
            </a:r>
            <a:r>
              <a:rPr dirty="0" err="1"/>
              <a:t>Agente</a:t>
            </a:r>
            <a:r>
              <a:rPr dirty="0"/>
              <a:t> de Voz • Slide </a:t>
            </a:r>
            <a:r>
              <a:rPr lang="pt-BR" dirty="0"/>
              <a:t>32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5"/>
                </a:solidFill>
                <a:latin typeface="Aptos Display"/>
              </a:defRPr>
            </a:pPr>
            <a: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E7887"/>
                </a:solidFill>
                <a:latin typeface="Aptos"/>
              </a:defRPr>
            </a:pPr>
            <a:r>
              <a:t>Pronto para apresentar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10332720" cy="2938423"/>
          </a:xfrm>
          <a:prstGeom prst="roundRect">
            <a:avLst/>
          </a:prstGeom>
          <a:solidFill>
            <a:srgbClr val="FFFFFF"/>
          </a:solidFill>
          <a:ln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24028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2600" b="1">
                <a:solidFill>
                  <a:srgbClr val="0078D4"/>
                </a:solidFill>
                <a:latin typeface="Aptos"/>
              </a:defRPr>
            </a:pPr>
            <a:r>
              <a:t>Agora você já tem um roteiro completo para:</a:t>
            </a:r>
          </a:p>
          <a:p>
            <a:pPr>
              <a:lnSpc>
                <a:spcPct val="110000"/>
              </a:lnSpc>
              <a:defRPr sz="2400" b="0">
                <a:solidFill>
                  <a:srgbClr val="2B3544"/>
                </a:solidFill>
                <a:latin typeface="Aptos"/>
              </a:defRPr>
            </a:pPr>
            <a:r>
              <a:t>• criar a conta Azure</a:t>
            </a:r>
          </a:p>
          <a:p>
            <a:pPr>
              <a:lnSpc>
                <a:spcPct val="110000"/>
              </a:lnSpc>
              <a:defRPr sz="2400" b="0">
                <a:solidFill>
                  <a:srgbClr val="2B3544"/>
                </a:solidFill>
                <a:latin typeface="Aptos"/>
              </a:defRPr>
            </a:pPr>
            <a:r>
              <a:t>• preparar o Microsoft Foundry</a:t>
            </a:r>
          </a:p>
          <a:p>
            <a:pPr>
              <a:lnSpc>
                <a:spcPct val="110000"/>
              </a:lnSpc>
              <a:defRPr sz="2400" b="0">
                <a:solidFill>
                  <a:srgbClr val="2B3544"/>
                </a:solidFill>
                <a:latin typeface="Aptos"/>
              </a:defRPr>
            </a:pPr>
            <a:r>
              <a:t>• montar um agente de voz</a:t>
            </a:r>
          </a:p>
          <a:p>
            <a:pPr>
              <a:lnSpc>
                <a:spcPct val="110000"/>
              </a:lnSpc>
              <a:defRPr sz="2400" b="0">
                <a:solidFill>
                  <a:srgbClr val="2B3544"/>
                </a:solidFill>
                <a:latin typeface="Aptos"/>
              </a:defRPr>
            </a:pPr>
            <a:r>
              <a:t>• e executar o código localmente com 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2814" y="6419088"/>
            <a:ext cx="3637471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200">
                <a:solidFill>
                  <a:srgbClr val="6E7887"/>
                </a:solidFill>
                <a:latin typeface="Aptos"/>
              </a:defRPr>
            </a:pPr>
            <a:r>
              <a:rPr dirty="0"/>
              <a:t>Azure • Microsoft Foundry • </a:t>
            </a:r>
            <a:r>
              <a:rPr dirty="0" err="1"/>
              <a:t>Agente</a:t>
            </a:r>
            <a:r>
              <a:rPr dirty="0"/>
              <a:t> de Voz</a:t>
            </a:r>
            <a:r>
              <a:rPr lang="pt-BR" dirty="0"/>
              <a:t> </a:t>
            </a:r>
            <a:r>
              <a:rPr lang="en-US" dirty="0"/>
              <a:t>• Slide 33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5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44</cp:revision>
  <dcterms:created xsi:type="dcterms:W3CDTF">2013-01-27T09:14:16Z</dcterms:created>
  <dcterms:modified xsi:type="dcterms:W3CDTF">2026-04-24T12:37:46Z</dcterms:modified>
  <cp:category/>
</cp:coreProperties>
</file>